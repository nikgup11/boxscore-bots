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8" r:id="rId4"/>
    <p:sldId id="260" r:id="rId5"/>
    <p:sldId id="261" r:id="rId6"/>
    <p:sldId id="262" r:id="rId7"/>
    <p:sldId id="263" r:id="rId8"/>
    <p:sldId id="264" r:id="rId9"/>
    <p:sldId id="267"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BC6D40-D77E-0F25-E31C-6F27A1453A4B}" v="2" dt="2025-10-27T20:07:53.589"/>
    <p1510:client id="{AF00222B-47D2-4081-A04F-4AE3AF06AE56}" v="267" dt="2025-10-26T18:08:24.4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0" name="Group 59">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61"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65" name="Freeform: Shape 64">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6" name="Freeform: Shape 65">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7" name="Freeform: Shape 66">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8" name="Freeform: Shape 67">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9" name="Freeform: Shape 68">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70" name="Freeform: Shape 69">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71" name="Freeform: Shape 70">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ctrTitle"/>
          </p:nvPr>
        </p:nvSpPr>
        <p:spPr>
          <a:xfrm>
            <a:off x="789708" y="666351"/>
            <a:ext cx="10558405" cy="3044335"/>
          </a:xfrm>
        </p:spPr>
        <p:txBody>
          <a:bodyPr anchor="b">
            <a:normAutofit/>
          </a:bodyPr>
          <a:lstStyle/>
          <a:p>
            <a:r>
              <a:rPr lang="en-US" sz="4800">
                <a:solidFill>
                  <a:schemeClr val="bg1"/>
                </a:solidFill>
              </a:rPr>
              <a:t>Boxscore Bots</a:t>
            </a:r>
          </a:p>
        </p:txBody>
      </p:sp>
      <p:sp>
        <p:nvSpPr>
          <p:cNvPr id="5" name="Subtitle 4">
            <a:extLst>
              <a:ext uri="{FF2B5EF4-FFF2-40B4-BE49-F238E27FC236}">
                <a16:creationId xmlns:a16="http://schemas.microsoft.com/office/drawing/2014/main" id="{2BDA4CBA-58F3-F14E-EF68-8A752F067197}"/>
              </a:ext>
            </a:extLst>
          </p:cNvPr>
          <p:cNvSpPr>
            <a:spLocks noGrp="1"/>
          </p:cNvSpPr>
          <p:nvPr>
            <p:ph type="subTitle" idx="1"/>
          </p:nvPr>
        </p:nvSpPr>
        <p:spPr>
          <a:xfrm>
            <a:off x="789708" y="3866064"/>
            <a:ext cx="10558405" cy="2234485"/>
          </a:xfrm>
        </p:spPr>
        <p:txBody>
          <a:bodyPr anchor="t">
            <a:normAutofit/>
          </a:bodyPr>
          <a:lstStyle/>
          <a:p>
            <a:endParaRPr lang="en-US">
              <a:solidFill>
                <a:schemeClr val="bg1"/>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Slide Background Fill">
            <a:extLst>
              <a:ext uri="{FF2B5EF4-FFF2-40B4-BE49-F238E27FC236}">
                <a16:creationId xmlns:a16="http://schemas.microsoft.com/office/drawing/2014/main" id="{907E470A-25F4-47D0-8FEC-EE9FD606B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66220E63-99E1-482A-A0A6-B47EB4BF87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31" name="Color Cover">
              <a:extLst>
                <a:ext uri="{FF2B5EF4-FFF2-40B4-BE49-F238E27FC236}">
                  <a16:creationId xmlns:a16="http://schemas.microsoft.com/office/drawing/2014/main" id="{F8610896-EA5E-4BE8-8398-C1AFC049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olor Cover">
              <a:extLst>
                <a:ext uri="{FF2B5EF4-FFF2-40B4-BE49-F238E27FC236}">
                  <a16:creationId xmlns:a16="http://schemas.microsoft.com/office/drawing/2014/main" id="{F44E9794-9C4B-427F-BB50-89D893347D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8618EE54-271A-4FE8-B6B3-D0FCF55A7A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35" name="Color">
              <a:extLst>
                <a:ext uri="{FF2B5EF4-FFF2-40B4-BE49-F238E27FC236}">
                  <a16:creationId xmlns:a16="http://schemas.microsoft.com/office/drawing/2014/main" id="{ECA6F781-4382-4525-9DA8-9D66605F87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olor">
              <a:extLst>
                <a:ext uri="{FF2B5EF4-FFF2-40B4-BE49-F238E27FC236}">
                  <a16:creationId xmlns:a16="http://schemas.microsoft.com/office/drawing/2014/main" id="{209C186B-2883-498E-A176-6B60F8B51B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9" name="Freeform: Shape 3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0" name="Freeform: Shape 3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1" name="Freeform: Shape 4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2" name="Freeform: Shape 4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3" name="Freeform: Shape 4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4" name="Freeform: Shape 4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5" name="Freeform: Shape 4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2838A3D-90B0-7AA9-9F52-EB671846ACD0}"/>
              </a:ext>
            </a:extLst>
          </p:cNvPr>
          <p:cNvSpPr>
            <a:spLocks noGrp="1"/>
          </p:cNvSpPr>
          <p:nvPr>
            <p:ph type="title"/>
          </p:nvPr>
        </p:nvSpPr>
        <p:spPr>
          <a:xfrm>
            <a:off x="1014984" y="891712"/>
            <a:ext cx="5309616" cy="5160789"/>
          </a:xfrm>
        </p:spPr>
        <p:txBody>
          <a:bodyPr anchor="ctr">
            <a:normAutofit/>
          </a:bodyPr>
          <a:lstStyle/>
          <a:p>
            <a:r>
              <a:rPr lang="en-US" sz="4800">
                <a:solidFill>
                  <a:schemeClr val="bg1"/>
                </a:solidFill>
              </a:rPr>
              <a:t>Members</a:t>
            </a:r>
          </a:p>
        </p:txBody>
      </p:sp>
      <p:sp>
        <p:nvSpPr>
          <p:cNvPr id="3" name="Content Placeholder 2">
            <a:extLst>
              <a:ext uri="{FF2B5EF4-FFF2-40B4-BE49-F238E27FC236}">
                <a16:creationId xmlns:a16="http://schemas.microsoft.com/office/drawing/2014/main" id="{2B3315E9-AAE3-16BE-8816-27BB43D4D1AE}"/>
              </a:ext>
            </a:extLst>
          </p:cNvPr>
          <p:cNvSpPr>
            <a:spLocks noGrp="1"/>
          </p:cNvSpPr>
          <p:nvPr>
            <p:ph idx="1"/>
          </p:nvPr>
        </p:nvSpPr>
        <p:spPr>
          <a:xfrm>
            <a:off x="6412302" y="891713"/>
            <a:ext cx="4584882" cy="5160790"/>
          </a:xfrm>
        </p:spPr>
        <p:txBody>
          <a:bodyPr vert="horz" lIns="91440" tIns="45720" rIns="91440" bIns="45720" rtlCol="0" anchor="ctr">
            <a:normAutofit/>
          </a:bodyPr>
          <a:lstStyle/>
          <a:p>
            <a:pPr marL="0" indent="0">
              <a:buNone/>
            </a:pPr>
            <a:r>
              <a:rPr lang="en-US" sz="1800">
                <a:solidFill>
                  <a:schemeClr val="bg1"/>
                </a:solidFill>
              </a:rPr>
              <a:t>Member 1: Eli Pappas</a:t>
            </a:r>
          </a:p>
          <a:p>
            <a:pPr marL="0" indent="0">
              <a:buNone/>
            </a:pPr>
            <a:r>
              <a:rPr lang="en-US" sz="1800">
                <a:solidFill>
                  <a:schemeClr val="bg1"/>
                </a:solidFill>
              </a:rPr>
              <a:t>Email: pappaseh@mail.uc.edu</a:t>
            </a:r>
            <a:endParaRPr lang="en-US" sz="1800">
              <a:solidFill>
                <a:schemeClr val="bg1"/>
              </a:solidFill>
              <a:latin typeface="Calibri"/>
              <a:ea typeface="Calibri"/>
              <a:cs typeface="Calibri"/>
            </a:endParaRPr>
          </a:p>
          <a:p>
            <a:endParaRPr lang="en-US" sz="1800">
              <a:solidFill>
                <a:schemeClr val="bg1"/>
              </a:solidFill>
            </a:endParaRPr>
          </a:p>
          <a:p>
            <a:pPr marL="0" indent="0">
              <a:buNone/>
            </a:pPr>
            <a:r>
              <a:rPr lang="en-US" sz="1800">
                <a:solidFill>
                  <a:schemeClr val="bg1"/>
                </a:solidFill>
              </a:rPr>
              <a:t>Member 2: Nikhil Gupta</a:t>
            </a:r>
          </a:p>
          <a:p>
            <a:pPr marL="0" indent="0">
              <a:buNone/>
            </a:pPr>
            <a:r>
              <a:rPr lang="en-US" sz="1800">
                <a:solidFill>
                  <a:schemeClr val="bg1"/>
                </a:solidFill>
              </a:rPr>
              <a:t>Email: gupta2nh@mail.uc.edu</a:t>
            </a:r>
            <a:endParaRPr lang="en-US" sz="1800">
              <a:solidFill>
                <a:schemeClr val="bg1"/>
              </a:solidFill>
              <a:latin typeface="Calibri"/>
              <a:ea typeface="Calibri"/>
              <a:cs typeface="Calibri"/>
            </a:endParaRPr>
          </a:p>
          <a:p>
            <a:endParaRPr lang="en-US" sz="1800">
              <a:solidFill>
                <a:schemeClr val="bg1"/>
              </a:solidFill>
            </a:endParaRPr>
          </a:p>
          <a:p>
            <a:pPr marL="0" indent="0">
              <a:buNone/>
            </a:pPr>
            <a:r>
              <a:rPr lang="en-US" sz="1800">
                <a:solidFill>
                  <a:schemeClr val="bg1"/>
                </a:solidFill>
              </a:rPr>
              <a:t>Advisor: Giovani </a:t>
            </a:r>
            <a:r>
              <a:rPr lang="en-US" sz="1800" err="1">
                <a:solidFill>
                  <a:schemeClr val="bg1"/>
                </a:solidFill>
              </a:rPr>
              <a:t>Abuaitah</a:t>
            </a:r>
          </a:p>
          <a:p>
            <a:endParaRPr lang="en-US" sz="1800">
              <a:solidFill>
                <a:schemeClr val="bg1"/>
              </a:solidFill>
            </a:endParaRPr>
          </a:p>
        </p:txBody>
      </p:sp>
    </p:spTree>
    <p:extLst>
      <p:ext uri="{BB962C8B-B14F-4D97-AF65-F5344CB8AC3E}">
        <p14:creationId xmlns:p14="http://schemas.microsoft.com/office/powerpoint/2010/main" val="2675364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52"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56" name="Freeform: Shape 55">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9" name="Freeform: Shape 6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8" name="Freeform: Shape 57">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9" name="Freeform: Shape 58">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0" name="Freeform: Shape 59">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1" name="Freeform: Shape 60">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2" name="Freeform: Shape 61">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0B29EBDE-9096-B565-EEE1-A115389A5704}"/>
              </a:ext>
            </a:extLst>
          </p:cNvPr>
          <p:cNvSpPr>
            <a:spLocks noGrp="1"/>
          </p:cNvSpPr>
          <p:nvPr>
            <p:ph type="title"/>
          </p:nvPr>
        </p:nvSpPr>
        <p:spPr>
          <a:xfrm>
            <a:off x="786385" y="841248"/>
            <a:ext cx="5129600" cy="5340097"/>
          </a:xfrm>
        </p:spPr>
        <p:txBody>
          <a:bodyPr anchor="ctr">
            <a:normAutofit/>
          </a:bodyPr>
          <a:lstStyle/>
          <a:p>
            <a:r>
              <a:rPr lang="en-US" sz="4800">
                <a:solidFill>
                  <a:schemeClr val="bg1"/>
                </a:solidFill>
              </a:rPr>
              <a:t>Project Abstract</a:t>
            </a:r>
          </a:p>
        </p:txBody>
      </p:sp>
      <p:sp>
        <p:nvSpPr>
          <p:cNvPr id="3" name="Content Placeholder 2">
            <a:extLst>
              <a:ext uri="{FF2B5EF4-FFF2-40B4-BE49-F238E27FC236}">
                <a16:creationId xmlns:a16="http://schemas.microsoft.com/office/drawing/2014/main" id="{B4E7E315-1B33-C05C-5D6B-2C82EC5E1572}"/>
              </a:ext>
            </a:extLst>
          </p:cNvPr>
          <p:cNvSpPr>
            <a:spLocks noGrp="1"/>
          </p:cNvSpPr>
          <p:nvPr>
            <p:ph idx="1"/>
          </p:nvPr>
        </p:nvSpPr>
        <p:spPr>
          <a:xfrm>
            <a:off x="6464410" y="841247"/>
            <a:ext cx="4484536" cy="5340097"/>
          </a:xfrm>
        </p:spPr>
        <p:txBody>
          <a:bodyPr vert="horz" lIns="91440" tIns="45720" rIns="91440" bIns="45720" rtlCol="0" anchor="ctr">
            <a:normAutofit/>
          </a:bodyPr>
          <a:lstStyle/>
          <a:p>
            <a:pPr marL="0" indent="0">
              <a:buNone/>
            </a:pPr>
            <a:r>
              <a:rPr lang="en-US" sz="1800">
                <a:solidFill>
                  <a:schemeClr val="tx2"/>
                </a:solidFill>
              </a:rPr>
              <a:t>Boxscore Bots is a </a:t>
            </a:r>
            <a:r>
              <a:rPr lang="en-US" sz="1800">
                <a:solidFill>
                  <a:schemeClr val="tx2"/>
                </a:solidFill>
                <a:highlight>
                  <a:srgbClr val="FFFF00"/>
                </a:highlight>
              </a:rPr>
              <a:t>Machine Learning</a:t>
            </a:r>
            <a:r>
              <a:rPr lang="en-US" sz="1800">
                <a:solidFill>
                  <a:schemeClr val="tx2"/>
                </a:solidFill>
              </a:rPr>
              <a:t> powered sports line predictor. This project will utilize </a:t>
            </a:r>
            <a:r>
              <a:rPr lang="en-US" sz="1800">
                <a:solidFill>
                  <a:schemeClr val="tx2"/>
                </a:solidFill>
                <a:highlight>
                  <a:srgbClr val="FFFF00"/>
                </a:highlight>
              </a:rPr>
              <a:t>public statistics</a:t>
            </a:r>
            <a:r>
              <a:rPr lang="en-US" sz="1800">
                <a:solidFill>
                  <a:schemeClr val="tx2"/>
                </a:solidFill>
              </a:rPr>
              <a:t> on player and team performances and will use these statistics to generate </a:t>
            </a:r>
            <a:r>
              <a:rPr lang="en-US" sz="1800">
                <a:solidFill>
                  <a:schemeClr val="tx2"/>
                </a:solidFill>
                <a:highlight>
                  <a:srgbClr val="FFFF00"/>
                </a:highlight>
              </a:rPr>
              <a:t>projections on how these players will perform in the future</a:t>
            </a:r>
            <a:r>
              <a:rPr lang="en-US" sz="1800">
                <a:solidFill>
                  <a:schemeClr val="tx2"/>
                </a:solidFill>
              </a:rPr>
              <a:t> based on underlying trends in the data and upcoming matchup statistics. The front-end will be a website for the </a:t>
            </a:r>
            <a:r>
              <a:rPr lang="en-US" sz="1800">
                <a:solidFill>
                  <a:schemeClr val="tx2"/>
                </a:solidFill>
                <a:highlight>
                  <a:srgbClr val="FFFF00"/>
                </a:highlight>
              </a:rPr>
              <a:t>user interface which will allow ease</a:t>
            </a:r>
            <a:r>
              <a:rPr lang="en-US" sz="1800">
                <a:solidFill>
                  <a:schemeClr val="tx2"/>
                </a:solidFill>
              </a:rPr>
              <a:t> of use and we plan on incorporating </a:t>
            </a:r>
            <a:r>
              <a:rPr lang="en-US" sz="1800">
                <a:solidFill>
                  <a:schemeClr val="tx2"/>
                </a:solidFill>
                <a:highlight>
                  <a:srgbClr val="FFFF00"/>
                </a:highlight>
              </a:rPr>
              <a:t>existing projections namely from sports-betting platforms</a:t>
            </a:r>
            <a:r>
              <a:rPr lang="en-US" sz="1800">
                <a:solidFill>
                  <a:schemeClr val="tx2"/>
                </a:solidFill>
              </a:rPr>
              <a:t> to compare and advise on what we believe is a "good" bet.</a:t>
            </a:r>
          </a:p>
        </p:txBody>
      </p:sp>
    </p:spTree>
    <p:extLst>
      <p:ext uri="{BB962C8B-B14F-4D97-AF65-F5344CB8AC3E}">
        <p14:creationId xmlns:p14="http://schemas.microsoft.com/office/powerpoint/2010/main" val="3153944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Slide Background Fill">
            <a:extLst>
              <a:ext uri="{FF2B5EF4-FFF2-40B4-BE49-F238E27FC236}">
                <a16:creationId xmlns:a16="http://schemas.microsoft.com/office/drawing/2014/main" id="{913AE63C-D5B4-45D1-ACFC-648CFFCF9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lor Cover">
            <a:extLst>
              <a:ext uri="{FF2B5EF4-FFF2-40B4-BE49-F238E27FC236}">
                <a16:creationId xmlns:a16="http://schemas.microsoft.com/office/drawing/2014/main" id="{34DE9D20-D6C2-4834-9EE9-EC583F3FE5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D2BEE71A-353E-49B4-9F8D-D2E784E501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6064235" cy="6858000"/>
            <a:chOff x="651279" y="598259"/>
            <a:chExt cx="10889442" cy="5680742"/>
          </a:xfrm>
        </p:grpSpPr>
        <p:sp>
          <p:nvSpPr>
            <p:cNvPr id="18" name="Color">
              <a:extLst>
                <a:ext uri="{FF2B5EF4-FFF2-40B4-BE49-F238E27FC236}">
                  <a16:creationId xmlns:a16="http://schemas.microsoft.com/office/drawing/2014/main" id="{0C9DD877-6006-4DF4-90EE-97EB9CA6B6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lor">
              <a:extLst>
                <a:ext uri="{FF2B5EF4-FFF2-40B4-BE49-F238E27FC236}">
                  <a16:creationId xmlns:a16="http://schemas.microsoft.com/office/drawing/2014/main" id="{380AA621-5EB1-4034-A9BE-9FD3CEC58B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Content Placeholder 3" descr="A diagram of a software development process&#10;&#10;AI-generated content may be incorrect.">
            <a:extLst>
              <a:ext uri="{FF2B5EF4-FFF2-40B4-BE49-F238E27FC236}">
                <a16:creationId xmlns:a16="http://schemas.microsoft.com/office/drawing/2014/main" id="{470C95FE-0932-9ACA-7837-718F786FA3C5}"/>
              </a:ext>
            </a:extLst>
          </p:cNvPr>
          <p:cNvPicPr>
            <a:picLocks noChangeAspect="1"/>
          </p:cNvPicPr>
          <p:nvPr/>
        </p:nvPicPr>
        <p:blipFill>
          <a:blip r:embed="rId2"/>
          <a:stretch>
            <a:fillRect/>
          </a:stretch>
        </p:blipFill>
        <p:spPr>
          <a:xfrm>
            <a:off x="6536212" y="4566030"/>
            <a:ext cx="3135311" cy="1896863"/>
          </a:xfrm>
          <a:prstGeom prst="rect">
            <a:avLst/>
          </a:prstGeom>
        </p:spPr>
      </p:pic>
      <p:pic>
        <p:nvPicPr>
          <p:cNvPr id="6" name="Picture 5" descr="A diagram of a model&#10;&#10;AI-generated content may be incorrect.">
            <a:extLst>
              <a:ext uri="{FF2B5EF4-FFF2-40B4-BE49-F238E27FC236}">
                <a16:creationId xmlns:a16="http://schemas.microsoft.com/office/drawing/2014/main" id="{A91F9FFE-CBC4-2DA3-B6BC-BC9E3B851479}"/>
              </a:ext>
            </a:extLst>
          </p:cNvPr>
          <p:cNvPicPr>
            <a:picLocks noChangeAspect="1"/>
          </p:cNvPicPr>
          <p:nvPr/>
        </p:nvPicPr>
        <p:blipFill>
          <a:blip r:embed="rId3"/>
          <a:stretch>
            <a:fillRect/>
          </a:stretch>
        </p:blipFill>
        <p:spPr>
          <a:xfrm>
            <a:off x="6537543" y="553468"/>
            <a:ext cx="4742159" cy="1896863"/>
          </a:xfrm>
          <a:prstGeom prst="rect">
            <a:avLst/>
          </a:prstGeom>
        </p:spPr>
      </p:pic>
      <p:pic>
        <p:nvPicPr>
          <p:cNvPr id="5" name="Picture 4" descr="A diagram of a process&#10;&#10;AI-generated content may be incorrect.">
            <a:extLst>
              <a:ext uri="{FF2B5EF4-FFF2-40B4-BE49-F238E27FC236}">
                <a16:creationId xmlns:a16="http://schemas.microsoft.com/office/drawing/2014/main" id="{B9141C8A-16E8-F29F-B26C-C6B588D279E4}"/>
              </a:ext>
            </a:extLst>
          </p:cNvPr>
          <p:cNvPicPr>
            <a:picLocks noChangeAspect="1"/>
          </p:cNvPicPr>
          <p:nvPr/>
        </p:nvPicPr>
        <p:blipFill>
          <a:blip r:embed="rId4"/>
          <a:stretch>
            <a:fillRect/>
          </a:stretch>
        </p:blipFill>
        <p:spPr>
          <a:xfrm>
            <a:off x="6537543" y="2667599"/>
            <a:ext cx="4999274" cy="1612265"/>
          </a:xfrm>
          <a:prstGeom prst="rect">
            <a:avLst/>
          </a:prstGeom>
        </p:spPr>
      </p:pic>
      <p:grpSp>
        <p:nvGrpSpPr>
          <p:cNvPr id="21" name="Group 20">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2" name="Freeform: Shape 21">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21F86670-7237-DD49-7E07-8F7F1CB4A7C2}"/>
              </a:ext>
            </a:extLst>
          </p:cNvPr>
          <p:cNvSpPr>
            <a:spLocks noGrp="1"/>
          </p:cNvSpPr>
          <p:nvPr>
            <p:ph type="title"/>
          </p:nvPr>
        </p:nvSpPr>
        <p:spPr>
          <a:xfrm>
            <a:off x="786385" y="841249"/>
            <a:ext cx="4827936" cy="2587751"/>
          </a:xfrm>
        </p:spPr>
        <p:txBody>
          <a:bodyPr anchor="b">
            <a:normAutofit/>
          </a:bodyPr>
          <a:lstStyle/>
          <a:p>
            <a:r>
              <a:rPr lang="en-US" sz="4800">
                <a:solidFill>
                  <a:schemeClr val="bg1"/>
                </a:solidFill>
              </a:rPr>
              <a:t>Design Diagrams</a:t>
            </a:r>
          </a:p>
        </p:txBody>
      </p:sp>
      <p:sp>
        <p:nvSpPr>
          <p:cNvPr id="10" name="Content Placeholder 9">
            <a:extLst>
              <a:ext uri="{FF2B5EF4-FFF2-40B4-BE49-F238E27FC236}">
                <a16:creationId xmlns:a16="http://schemas.microsoft.com/office/drawing/2014/main" id="{5967D56E-0C02-4DF7-C37C-BEBB6934CE1B}"/>
              </a:ext>
            </a:extLst>
          </p:cNvPr>
          <p:cNvSpPr>
            <a:spLocks noGrp="1"/>
          </p:cNvSpPr>
          <p:nvPr>
            <p:ph idx="1"/>
          </p:nvPr>
        </p:nvSpPr>
        <p:spPr>
          <a:xfrm>
            <a:off x="786383" y="3471176"/>
            <a:ext cx="4827936" cy="2710168"/>
          </a:xfrm>
        </p:spPr>
        <p:txBody>
          <a:bodyPr anchor="t">
            <a:normAutofit/>
          </a:bodyPr>
          <a:lstStyle/>
          <a:p>
            <a:endParaRPr lang="en-US" sz="1800">
              <a:solidFill>
                <a:schemeClr val="bg1"/>
              </a:solidFill>
            </a:endParaRPr>
          </a:p>
        </p:txBody>
      </p:sp>
    </p:spTree>
    <p:extLst>
      <p:ext uri="{BB962C8B-B14F-4D97-AF65-F5344CB8AC3E}">
        <p14:creationId xmlns:p14="http://schemas.microsoft.com/office/powerpoint/2010/main" val="3200000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CB845D56-B9E4-902A-DF10-5DF98C0F933E}"/>
              </a:ext>
            </a:extLst>
          </p:cNvPr>
          <p:cNvSpPr>
            <a:spLocks noGrp="1"/>
          </p:cNvSpPr>
          <p:nvPr>
            <p:ph type="title"/>
          </p:nvPr>
        </p:nvSpPr>
        <p:spPr>
          <a:xfrm>
            <a:off x="786385" y="841248"/>
            <a:ext cx="5129600" cy="5340097"/>
          </a:xfrm>
        </p:spPr>
        <p:txBody>
          <a:bodyPr anchor="ctr">
            <a:normAutofit/>
          </a:bodyPr>
          <a:lstStyle/>
          <a:p>
            <a:r>
              <a:rPr lang="en-US" sz="4800">
                <a:solidFill>
                  <a:schemeClr val="bg1"/>
                </a:solidFill>
              </a:rPr>
              <a:t>User Stories</a:t>
            </a:r>
          </a:p>
        </p:txBody>
      </p:sp>
      <p:sp>
        <p:nvSpPr>
          <p:cNvPr id="3" name="Content Placeholder 2">
            <a:extLst>
              <a:ext uri="{FF2B5EF4-FFF2-40B4-BE49-F238E27FC236}">
                <a16:creationId xmlns:a16="http://schemas.microsoft.com/office/drawing/2014/main" id="{C2A76AE6-1C82-4AC9-B4AC-4AF243628E1B}"/>
              </a:ext>
            </a:extLst>
          </p:cNvPr>
          <p:cNvSpPr>
            <a:spLocks noGrp="1"/>
          </p:cNvSpPr>
          <p:nvPr>
            <p:ph idx="1"/>
          </p:nvPr>
        </p:nvSpPr>
        <p:spPr>
          <a:xfrm>
            <a:off x="6464410" y="841247"/>
            <a:ext cx="4484536" cy="5340097"/>
          </a:xfrm>
        </p:spPr>
        <p:txBody>
          <a:bodyPr vert="horz" lIns="91440" tIns="45720" rIns="91440" bIns="45720" rtlCol="0" anchor="ctr">
            <a:normAutofit/>
          </a:bodyPr>
          <a:lstStyle/>
          <a:p>
            <a:r>
              <a:rPr lang="en-US" sz="1100" b="1">
                <a:solidFill>
                  <a:schemeClr val="tx2"/>
                </a:solidFill>
                <a:ea typeface="+mn-lt"/>
                <a:cs typeface="+mn-lt"/>
              </a:rPr>
              <a:t>Sports Analyst</a:t>
            </a:r>
            <a:br>
              <a:rPr lang="en-US" sz="1100">
                <a:ea typeface="+mn-lt"/>
                <a:cs typeface="+mn-lt"/>
              </a:rPr>
            </a:br>
            <a:r>
              <a:rPr lang="en-US" sz="1100">
                <a:solidFill>
                  <a:schemeClr val="tx2"/>
                </a:solidFill>
                <a:ea typeface="+mn-lt"/>
                <a:cs typeface="+mn-lt"/>
              </a:rPr>
              <a:t>As a sports analyst, I want to see the performance projections of players and teams' performances so that I can report accurate assessments of how they are doing or what they need to do to improve based on data-backed predictions.</a:t>
            </a:r>
          </a:p>
          <a:p>
            <a:r>
              <a:rPr lang="en-US" sz="1100" b="1">
                <a:solidFill>
                  <a:schemeClr val="tx2"/>
                </a:solidFill>
                <a:ea typeface="+mn-lt"/>
                <a:cs typeface="+mn-lt"/>
              </a:rPr>
              <a:t>Coach</a:t>
            </a:r>
            <a:br>
              <a:rPr lang="en-US" sz="1100">
                <a:ea typeface="+mn-lt"/>
                <a:cs typeface="+mn-lt"/>
              </a:rPr>
            </a:br>
            <a:r>
              <a:rPr lang="en-US" sz="1100">
                <a:solidFill>
                  <a:schemeClr val="tx2"/>
                </a:solidFill>
                <a:ea typeface="+mn-lt"/>
                <a:cs typeface="+mn-lt"/>
              </a:rPr>
              <a:t>As a coach, I want to see the performance projections of players on teams for certain games so that I can point out players has the weakest statistics in specific areas so that we can work to improve them, and know the weak points of players on opposing teams to</a:t>
            </a:r>
            <a:br>
              <a:rPr lang="en-US" sz="1100">
                <a:ea typeface="+mn-lt"/>
                <a:cs typeface="+mn-lt"/>
              </a:rPr>
            </a:br>
            <a:r>
              <a:rPr lang="en-US" sz="1100">
                <a:solidFill>
                  <a:schemeClr val="tx2"/>
                </a:solidFill>
                <a:ea typeface="+mn-lt"/>
                <a:cs typeface="+mn-lt"/>
              </a:rPr>
              <a:t>target them, in order to increase our chances of winning games in the future.</a:t>
            </a:r>
          </a:p>
          <a:p>
            <a:r>
              <a:rPr lang="en-US" sz="1100" b="1">
                <a:solidFill>
                  <a:schemeClr val="tx2"/>
                </a:solidFill>
                <a:ea typeface="+mn-lt"/>
                <a:cs typeface="+mn-lt"/>
              </a:rPr>
              <a:t>Average Sports-Betting Enthusiast</a:t>
            </a:r>
            <a:br>
              <a:rPr lang="en-US" sz="1100">
                <a:ea typeface="+mn-lt"/>
                <a:cs typeface="+mn-lt"/>
              </a:rPr>
            </a:br>
            <a:r>
              <a:rPr lang="en-US" sz="1100">
                <a:solidFill>
                  <a:schemeClr val="tx2"/>
                </a:solidFill>
                <a:ea typeface="+mn-lt"/>
                <a:cs typeface="+mn-lt"/>
              </a:rPr>
              <a:t>As a sports-betting enthusiast, I want to get performance projections of how teams will fare in games so that I can increase my odds of winning my bets by placing them on teams with a better chance of winning.</a:t>
            </a:r>
          </a:p>
          <a:p>
            <a:r>
              <a:rPr lang="en-US" sz="1100" b="1">
                <a:solidFill>
                  <a:schemeClr val="tx2"/>
                </a:solidFill>
                <a:ea typeface="+mn-lt"/>
                <a:cs typeface="+mn-lt"/>
              </a:rPr>
              <a:t>Scouts &amp; Recruiters</a:t>
            </a:r>
            <a:br>
              <a:rPr lang="en-US" sz="1100">
                <a:ea typeface="+mn-lt"/>
                <a:cs typeface="+mn-lt"/>
              </a:rPr>
            </a:br>
            <a:r>
              <a:rPr lang="en-US" sz="1100">
                <a:solidFill>
                  <a:schemeClr val="tx2"/>
                </a:solidFill>
                <a:ea typeface="+mn-lt"/>
                <a:cs typeface="+mn-lt"/>
              </a:rPr>
              <a:t>As a sports scout, I want to seek potential talent to be promoted to better teams and positions, getting player projections on how each player fares against different teams and how they contribute to winning games by giving a wholistic view of their performance,</a:t>
            </a:r>
            <a:br>
              <a:rPr lang="en-US" sz="1100">
                <a:ea typeface="+mn-lt"/>
                <a:cs typeface="+mn-lt"/>
              </a:rPr>
            </a:br>
            <a:r>
              <a:rPr lang="en-US" sz="1100">
                <a:solidFill>
                  <a:schemeClr val="tx2"/>
                </a:solidFill>
                <a:ea typeface="+mn-lt"/>
                <a:cs typeface="+mn-lt"/>
              </a:rPr>
              <a:t>which will help me see what young talents are out there that would be worth pursuing to propose contracts and such to.</a:t>
            </a:r>
            <a:endParaRPr lang="en-US" sz="1100">
              <a:solidFill>
                <a:schemeClr val="tx2"/>
              </a:solidFill>
            </a:endParaRPr>
          </a:p>
          <a:p>
            <a:endParaRPr lang="en-US" sz="1100">
              <a:solidFill>
                <a:schemeClr val="tx2"/>
              </a:solidFill>
            </a:endParaRPr>
          </a:p>
        </p:txBody>
      </p:sp>
    </p:spTree>
    <p:extLst>
      <p:ext uri="{BB962C8B-B14F-4D97-AF65-F5344CB8AC3E}">
        <p14:creationId xmlns:p14="http://schemas.microsoft.com/office/powerpoint/2010/main" val="3261855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907E470A-25F4-47D0-8FEC-EE9FD606B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6220E63-99E1-482A-A0A6-B47EB4BF87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11" name="Color Cover">
              <a:extLst>
                <a:ext uri="{FF2B5EF4-FFF2-40B4-BE49-F238E27FC236}">
                  <a16:creationId xmlns:a16="http://schemas.microsoft.com/office/drawing/2014/main" id="{F8610896-EA5E-4BE8-8398-C1AFC049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lor Cover">
              <a:extLst>
                <a:ext uri="{FF2B5EF4-FFF2-40B4-BE49-F238E27FC236}">
                  <a16:creationId xmlns:a16="http://schemas.microsoft.com/office/drawing/2014/main" id="{F44E9794-9C4B-427F-BB50-89D893347D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8618EE54-271A-4FE8-B6B3-D0FCF55A7A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15" name="Color">
              <a:extLst>
                <a:ext uri="{FF2B5EF4-FFF2-40B4-BE49-F238E27FC236}">
                  <a16:creationId xmlns:a16="http://schemas.microsoft.com/office/drawing/2014/main" id="{ECA6F781-4382-4525-9DA8-9D66605F87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lor">
              <a:extLst>
                <a:ext uri="{FF2B5EF4-FFF2-40B4-BE49-F238E27FC236}">
                  <a16:creationId xmlns:a16="http://schemas.microsoft.com/office/drawing/2014/main" id="{209C186B-2883-498E-A176-6B60F8B51B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9" name="Freeform: Shape 1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99207B35-C6A6-4632-27C9-090DEDFDAC36}"/>
              </a:ext>
            </a:extLst>
          </p:cNvPr>
          <p:cNvSpPr>
            <a:spLocks noGrp="1"/>
          </p:cNvSpPr>
          <p:nvPr>
            <p:ph type="title"/>
          </p:nvPr>
        </p:nvSpPr>
        <p:spPr>
          <a:xfrm>
            <a:off x="1014984" y="891712"/>
            <a:ext cx="5309616" cy="5160789"/>
          </a:xfrm>
        </p:spPr>
        <p:txBody>
          <a:bodyPr anchor="ctr">
            <a:normAutofit/>
          </a:bodyPr>
          <a:lstStyle/>
          <a:p>
            <a:pPr algn="ctr"/>
            <a:r>
              <a:rPr lang="en-US" sz="4800">
                <a:solidFill>
                  <a:schemeClr val="bg1"/>
                </a:solidFill>
                <a:ea typeface="+mj-lt"/>
                <a:cs typeface="+mj-lt"/>
              </a:rPr>
              <a:t>Major Project Constraints</a:t>
            </a:r>
          </a:p>
        </p:txBody>
      </p:sp>
      <p:sp>
        <p:nvSpPr>
          <p:cNvPr id="3" name="Content Placeholder 2">
            <a:extLst>
              <a:ext uri="{FF2B5EF4-FFF2-40B4-BE49-F238E27FC236}">
                <a16:creationId xmlns:a16="http://schemas.microsoft.com/office/drawing/2014/main" id="{8AF869A1-4A8E-698A-D0B3-B4A39C840A9E}"/>
              </a:ext>
            </a:extLst>
          </p:cNvPr>
          <p:cNvSpPr>
            <a:spLocks noGrp="1"/>
          </p:cNvSpPr>
          <p:nvPr>
            <p:ph idx="1"/>
          </p:nvPr>
        </p:nvSpPr>
        <p:spPr>
          <a:xfrm>
            <a:off x="6412302" y="891713"/>
            <a:ext cx="4584882" cy="5160790"/>
          </a:xfrm>
        </p:spPr>
        <p:txBody>
          <a:bodyPr vert="horz" lIns="91440" tIns="45720" rIns="91440" bIns="45720" rtlCol="0" anchor="ctr">
            <a:normAutofit/>
          </a:bodyPr>
          <a:lstStyle/>
          <a:p>
            <a:pPr marL="0" indent="0">
              <a:buNone/>
            </a:pPr>
            <a:r>
              <a:rPr lang="en-US" sz="900">
                <a:solidFill>
                  <a:schemeClr val="bg1"/>
                </a:solidFill>
              </a:rPr>
              <a:t>Ethical:</a:t>
            </a:r>
          </a:p>
          <a:p>
            <a:r>
              <a:rPr lang="en-US" sz="900">
                <a:solidFill>
                  <a:schemeClr val="bg1"/>
                </a:solidFill>
                <a:ea typeface="+mn-lt"/>
                <a:cs typeface="+mn-lt"/>
              </a:rPr>
              <a:t>Must avoid misleading users about prediction accuracy or promoting gambling.</a:t>
            </a:r>
            <a:endParaRPr lang="en-US" sz="900">
              <a:solidFill>
                <a:schemeClr val="bg1"/>
              </a:solidFill>
            </a:endParaRPr>
          </a:p>
          <a:p>
            <a:r>
              <a:rPr lang="en-US" sz="900">
                <a:solidFill>
                  <a:schemeClr val="bg1"/>
                </a:solidFill>
                <a:ea typeface="+mn-lt"/>
                <a:cs typeface="+mn-lt"/>
              </a:rPr>
              <a:t>Plans: add disclaimers, show historical accuracy transparently, and separate “Insights,” “Fantasy,” and “Betting” sections with age restrictions and warnings.</a:t>
            </a:r>
            <a:endParaRPr lang="en-US" sz="900">
              <a:solidFill>
                <a:schemeClr val="bg1"/>
              </a:solidFill>
            </a:endParaRPr>
          </a:p>
          <a:p>
            <a:pPr marL="0" indent="0">
              <a:buNone/>
            </a:pPr>
            <a:r>
              <a:rPr lang="en-US" sz="900">
                <a:solidFill>
                  <a:schemeClr val="bg1"/>
                </a:solidFill>
              </a:rPr>
              <a:t>Legal:</a:t>
            </a:r>
          </a:p>
          <a:p>
            <a:r>
              <a:rPr lang="en-US" sz="900">
                <a:solidFill>
                  <a:schemeClr val="bg1"/>
                </a:solidFill>
                <a:ea typeface="+mn-lt"/>
                <a:cs typeface="+mn-lt"/>
              </a:rPr>
              <a:t>Predictions may be used for gambling, requiring disclaimers that results are for entertainment only, not betting advice.</a:t>
            </a:r>
            <a:endParaRPr lang="en-US" sz="900">
              <a:solidFill>
                <a:schemeClr val="bg1"/>
              </a:solidFill>
            </a:endParaRPr>
          </a:p>
          <a:p>
            <a:r>
              <a:rPr lang="en-US" sz="900">
                <a:solidFill>
                  <a:schemeClr val="bg1"/>
                </a:solidFill>
                <a:ea typeface="+mn-lt"/>
                <a:cs typeface="+mn-lt"/>
              </a:rPr>
              <a:t>Player data may be protected by IP laws; unauthorized scraping could violate copyrights or terms of service.</a:t>
            </a:r>
            <a:endParaRPr lang="en-US" sz="900">
              <a:solidFill>
                <a:schemeClr val="bg1"/>
              </a:solidFill>
            </a:endParaRPr>
          </a:p>
          <a:p>
            <a:r>
              <a:rPr lang="en-US" sz="900">
                <a:solidFill>
                  <a:schemeClr val="bg1"/>
                </a:solidFill>
                <a:ea typeface="+mn-lt"/>
                <a:cs typeface="+mn-lt"/>
              </a:rPr>
              <a:t>Using public datasets minimizes licensing risks.</a:t>
            </a:r>
            <a:endParaRPr lang="en-US" sz="900">
              <a:solidFill>
                <a:schemeClr val="bg1"/>
              </a:solidFill>
            </a:endParaRPr>
          </a:p>
          <a:p>
            <a:pPr marL="0" indent="0">
              <a:buNone/>
            </a:pPr>
            <a:r>
              <a:rPr lang="en-US" sz="900">
                <a:solidFill>
                  <a:schemeClr val="bg1"/>
                </a:solidFill>
              </a:rPr>
              <a:t>Social:</a:t>
            </a:r>
          </a:p>
          <a:p>
            <a:r>
              <a:rPr lang="en-US" sz="900">
                <a:solidFill>
                  <a:schemeClr val="bg1"/>
                </a:solidFill>
                <a:ea typeface="+mn-lt"/>
                <a:cs typeface="+mn-lt"/>
              </a:rPr>
              <a:t>Benefits: supports community sports and objective player evaluation using data-driven insights.</a:t>
            </a:r>
            <a:endParaRPr lang="en-US" sz="900">
              <a:solidFill>
                <a:schemeClr val="bg1"/>
              </a:solidFill>
            </a:endParaRPr>
          </a:p>
          <a:p>
            <a:r>
              <a:rPr lang="en-US" sz="900">
                <a:solidFill>
                  <a:schemeClr val="bg1"/>
                </a:solidFill>
                <a:ea typeface="+mn-lt"/>
                <a:cs typeface="+mn-lt"/>
              </a:rPr>
              <a:t>Risks: overreliance on model predictions could bias perceptions or encourage gambling habits.</a:t>
            </a:r>
            <a:endParaRPr lang="en-US" sz="900">
              <a:solidFill>
                <a:schemeClr val="bg1"/>
              </a:solidFill>
            </a:endParaRPr>
          </a:p>
          <a:p>
            <a:r>
              <a:rPr lang="en-US" sz="900">
                <a:solidFill>
                  <a:schemeClr val="bg1"/>
                </a:solidFill>
                <a:ea typeface="+mn-lt"/>
                <a:cs typeface="+mn-lt"/>
              </a:rPr>
              <a:t>Mitigation: include clear disclaimers emphasizing predictions are not guarantees.</a:t>
            </a:r>
            <a:endParaRPr lang="en-US" sz="900">
              <a:solidFill>
                <a:schemeClr val="bg1"/>
              </a:solidFill>
            </a:endParaRPr>
          </a:p>
          <a:p>
            <a:pPr marL="0" indent="0">
              <a:buNone/>
            </a:pPr>
            <a:r>
              <a:rPr lang="en-US" sz="900">
                <a:solidFill>
                  <a:schemeClr val="bg1"/>
                </a:solidFill>
              </a:rPr>
              <a:t>Professional:</a:t>
            </a:r>
          </a:p>
          <a:p>
            <a:r>
              <a:rPr lang="en-US" sz="900">
                <a:solidFill>
                  <a:schemeClr val="bg1"/>
                </a:solidFill>
                <a:ea typeface="+mn-lt"/>
                <a:cs typeface="+mn-lt"/>
              </a:rPr>
              <a:t>Major learning opportunity in machine learning, data analysis, and UI design.</a:t>
            </a:r>
            <a:endParaRPr lang="en-US" sz="900">
              <a:solidFill>
                <a:schemeClr val="bg1"/>
              </a:solidFill>
            </a:endParaRPr>
          </a:p>
          <a:p>
            <a:r>
              <a:rPr lang="en-US" sz="900">
                <a:solidFill>
                  <a:schemeClr val="bg1"/>
                </a:solidFill>
                <a:ea typeface="+mn-lt"/>
                <a:cs typeface="+mn-lt"/>
              </a:rPr>
              <a:t>Builds collaboration, source control, and coding skills.</a:t>
            </a:r>
            <a:endParaRPr lang="en-US" sz="900">
              <a:solidFill>
                <a:schemeClr val="bg1"/>
              </a:solidFill>
            </a:endParaRPr>
          </a:p>
          <a:p>
            <a:r>
              <a:rPr lang="en-US" sz="900">
                <a:solidFill>
                  <a:schemeClr val="bg1"/>
                </a:solidFill>
                <a:ea typeface="+mn-lt"/>
                <a:cs typeface="+mn-lt"/>
              </a:rPr>
              <a:t>Provides strong portfolio experience for future careers in data science and analytics.</a:t>
            </a:r>
            <a:endParaRPr lang="en-US" sz="900">
              <a:solidFill>
                <a:schemeClr val="bg1"/>
              </a:solidFill>
            </a:endParaRPr>
          </a:p>
          <a:p>
            <a:endParaRPr lang="en-US" sz="900">
              <a:solidFill>
                <a:schemeClr val="bg1"/>
              </a:solidFill>
            </a:endParaRPr>
          </a:p>
        </p:txBody>
      </p:sp>
    </p:spTree>
    <p:extLst>
      <p:ext uri="{BB962C8B-B14F-4D97-AF65-F5344CB8AC3E}">
        <p14:creationId xmlns:p14="http://schemas.microsoft.com/office/powerpoint/2010/main" val="3193210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194867-0CF1-A024-7EC8-C6C4AE2D2AF2}"/>
            </a:ext>
          </a:extLst>
        </p:cNvPr>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D175DD81-D949-EFEB-854C-EBA1ABB4A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lor Cover">
            <a:extLst>
              <a:ext uri="{FF2B5EF4-FFF2-40B4-BE49-F238E27FC236}">
                <a16:creationId xmlns:a16="http://schemas.microsoft.com/office/drawing/2014/main" id="{D2F729B0-C555-06AA-0D8B-348A9B497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9D8675DD-8FC2-B6D5-C82D-39D432B0911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32E6A437-6A71-6F5B-07EC-3710CA47CA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lor">
              <a:extLst>
                <a:ext uri="{FF2B5EF4-FFF2-40B4-BE49-F238E27FC236}">
                  <a16:creationId xmlns:a16="http://schemas.microsoft.com/office/drawing/2014/main" id="{26C60D45-7F9D-4E53-A60A-F7132E910D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AC702664-2F8A-688D-AB47-2BE9C79B63F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BC9AC1A0-8FCF-8D02-9FFE-0649FAFBE9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533DF2A2-BAE1-7657-E6F7-A0ED806D9D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B29A0F66-4A12-72AB-8B4B-7C4EBC880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06262E9F-6230-A2BB-D1B3-115B54104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681D3A8C-8B3E-5918-3764-346B56990A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1D37E9FE-1858-18E5-1648-72DE7E32B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49226F94-9F75-9380-4E25-3CA47BC48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FCC0398-1F72-5ABC-A573-2D62B99E2A09}"/>
              </a:ext>
            </a:extLst>
          </p:cNvPr>
          <p:cNvSpPr>
            <a:spLocks noGrp="1"/>
          </p:cNvSpPr>
          <p:nvPr>
            <p:ph type="title"/>
          </p:nvPr>
        </p:nvSpPr>
        <p:spPr>
          <a:xfrm>
            <a:off x="786385" y="841248"/>
            <a:ext cx="5129600" cy="5340097"/>
          </a:xfrm>
        </p:spPr>
        <p:txBody>
          <a:bodyPr anchor="ctr">
            <a:normAutofit/>
          </a:bodyPr>
          <a:lstStyle/>
          <a:p>
            <a:r>
              <a:rPr lang="en-US" sz="4800">
                <a:solidFill>
                  <a:schemeClr val="bg1"/>
                </a:solidFill>
              </a:rPr>
              <a:t>Project Progress</a:t>
            </a:r>
          </a:p>
        </p:txBody>
      </p:sp>
      <p:sp>
        <p:nvSpPr>
          <p:cNvPr id="3" name="Content Placeholder 2">
            <a:extLst>
              <a:ext uri="{FF2B5EF4-FFF2-40B4-BE49-F238E27FC236}">
                <a16:creationId xmlns:a16="http://schemas.microsoft.com/office/drawing/2014/main" id="{266C0BA1-8B8E-4ABA-DCE6-D20A80DD940C}"/>
              </a:ext>
            </a:extLst>
          </p:cNvPr>
          <p:cNvSpPr>
            <a:spLocks noGrp="1"/>
          </p:cNvSpPr>
          <p:nvPr>
            <p:ph idx="1"/>
          </p:nvPr>
        </p:nvSpPr>
        <p:spPr>
          <a:xfrm>
            <a:off x="6464410" y="841247"/>
            <a:ext cx="4484536" cy="5340097"/>
          </a:xfrm>
        </p:spPr>
        <p:txBody>
          <a:bodyPr vert="horz" lIns="91440" tIns="45720" rIns="91440" bIns="45720" rtlCol="0" anchor="ctr">
            <a:normAutofit/>
          </a:bodyPr>
          <a:lstStyle/>
          <a:p>
            <a:r>
              <a:rPr lang="en-US" sz="1800">
                <a:solidFill>
                  <a:schemeClr val="tx2"/>
                </a:solidFill>
              </a:rPr>
              <a:t>Implementation start date: Oct. 27</a:t>
            </a:r>
            <a:r>
              <a:rPr lang="en-US" sz="1800" baseline="30000">
                <a:solidFill>
                  <a:schemeClr val="tx2"/>
                </a:solidFill>
              </a:rPr>
              <a:t>th</a:t>
            </a:r>
          </a:p>
          <a:p>
            <a:endParaRPr lang="en-US" sz="1800" baseline="30000">
              <a:solidFill>
                <a:schemeClr val="tx2"/>
              </a:solidFill>
            </a:endParaRPr>
          </a:p>
          <a:p>
            <a:r>
              <a:rPr lang="en-US" sz="1800">
                <a:solidFill>
                  <a:schemeClr val="tx2"/>
                </a:solidFill>
              </a:rPr>
              <a:t>Research on effective training models and data sources</a:t>
            </a:r>
          </a:p>
          <a:p>
            <a:endParaRPr lang="en-US" sz="1800">
              <a:solidFill>
                <a:schemeClr val="tx2"/>
              </a:solidFill>
            </a:endParaRPr>
          </a:p>
          <a:p>
            <a:r>
              <a:rPr lang="en-US" sz="1800">
                <a:solidFill>
                  <a:schemeClr val="tx2"/>
                </a:solidFill>
              </a:rPr>
              <a:t>Focus on data retrieval and training this term</a:t>
            </a:r>
          </a:p>
        </p:txBody>
      </p:sp>
    </p:spTree>
    <p:extLst>
      <p:ext uri="{BB962C8B-B14F-4D97-AF65-F5344CB8AC3E}">
        <p14:creationId xmlns:p14="http://schemas.microsoft.com/office/powerpoint/2010/main" val="1825290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6E79D9-7254-A187-2FA9-67879AB3B9BA}"/>
            </a:ext>
          </a:extLst>
        </p:cNvPr>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179613B4-402A-D2A5-6217-5FE6387031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lor Cover">
            <a:extLst>
              <a:ext uri="{FF2B5EF4-FFF2-40B4-BE49-F238E27FC236}">
                <a16:creationId xmlns:a16="http://schemas.microsoft.com/office/drawing/2014/main" id="{D6426AA3-7661-674B-C957-0BEC8BABFB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09F0B3EF-4365-9549-9447-C94D27D4FD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721F6920-449D-AFAD-F445-61175476A0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lor">
              <a:extLst>
                <a:ext uri="{FF2B5EF4-FFF2-40B4-BE49-F238E27FC236}">
                  <a16:creationId xmlns:a16="http://schemas.microsoft.com/office/drawing/2014/main" id="{A6B5BD7D-197E-5922-885A-AD87C093F7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D7B93A9B-8B70-3ED2-D013-A75506E486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D8913B26-26EE-9047-B851-EF7AB6B1C7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56B85E2A-0441-E438-3BEE-6E0612CDC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34C5EDC2-6CBA-DCF3-E8DE-5C36FCBE3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60C09F54-0C62-FBFF-1430-B2DEA79823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277DC1AF-EFDA-0A50-00FE-48A071ED56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49635ED4-93B6-AB1E-671B-CE724C4B15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A1F67FC-3E5A-D635-3ADB-21C5807913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7EE5E730-96F7-36CA-0B18-F8AB5F1C6E53}"/>
              </a:ext>
            </a:extLst>
          </p:cNvPr>
          <p:cNvSpPr>
            <a:spLocks noGrp="1"/>
          </p:cNvSpPr>
          <p:nvPr>
            <p:ph type="title"/>
          </p:nvPr>
        </p:nvSpPr>
        <p:spPr>
          <a:xfrm>
            <a:off x="786385" y="841248"/>
            <a:ext cx="5129600" cy="5340097"/>
          </a:xfrm>
        </p:spPr>
        <p:txBody>
          <a:bodyPr anchor="ctr">
            <a:normAutofit/>
          </a:bodyPr>
          <a:lstStyle/>
          <a:p>
            <a:pPr algn="ctr"/>
            <a:r>
              <a:rPr lang="en-US" sz="4800">
                <a:solidFill>
                  <a:schemeClr val="bg1"/>
                </a:solidFill>
              </a:rPr>
              <a:t>Expected Accomplishments</a:t>
            </a:r>
          </a:p>
        </p:txBody>
      </p:sp>
      <p:sp>
        <p:nvSpPr>
          <p:cNvPr id="3" name="Content Placeholder 2">
            <a:extLst>
              <a:ext uri="{FF2B5EF4-FFF2-40B4-BE49-F238E27FC236}">
                <a16:creationId xmlns:a16="http://schemas.microsoft.com/office/drawing/2014/main" id="{C643874E-6C9C-3F0E-15A9-109FF40DF274}"/>
              </a:ext>
            </a:extLst>
          </p:cNvPr>
          <p:cNvSpPr>
            <a:spLocks noGrp="1"/>
          </p:cNvSpPr>
          <p:nvPr>
            <p:ph idx="1"/>
          </p:nvPr>
        </p:nvSpPr>
        <p:spPr>
          <a:xfrm>
            <a:off x="6464410" y="841247"/>
            <a:ext cx="4484536" cy="5340097"/>
          </a:xfrm>
        </p:spPr>
        <p:txBody>
          <a:bodyPr vert="horz" lIns="91440" tIns="45720" rIns="91440" bIns="45720" rtlCol="0" anchor="ctr">
            <a:normAutofit/>
          </a:bodyPr>
          <a:lstStyle/>
          <a:p>
            <a:r>
              <a:rPr lang="en-US" sz="1400">
                <a:solidFill>
                  <a:schemeClr val="tx2"/>
                </a:solidFill>
              </a:rPr>
              <a:t>Project work split into 3 phases: </a:t>
            </a:r>
          </a:p>
          <a:p>
            <a:pPr lvl="1"/>
            <a:r>
              <a:rPr lang="en-US" sz="1400">
                <a:solidFill>
                  <a:schemeClr val="tx2"/>
                </a:solidFill>
              </a:rPr>
              <a:t>Data Retrieval</a:t>
            </a:r>
          </a:p>
          <a:p>
            <a:pPr lvl="1"/>
            <a:r>
              <a:rPr lang="en-US" sz="1400">
                <a:solidFill>
                  <a:schemeClr val="tx2"/>
                </a:solidFill>
              </a:rPr>
              <a:t>Training</a:t>
            </a:r>
          </a:p>
          <a:p>
            <a:pPr lvl="1"/>
            <a:r>
              <a:rPr lang="en-US" sz="1400">
                <a:solidFill>
                  <a:schemeClr val="tx2"/>
                </a:solidFill>
              </a:rPr>
              <a:t>UI Implementation</a:t>
            </a:r>
          </a:p>
          <a:p>
            <a:pPr marL="0" indent="0">
              <a:buNone/>
            </a:pPr>
            <a:endParaRPr lang="en-US" sz="1400">
              <a:solidFill>
                <a:schemeClr val="tx2"/>
              </a:solidFill>
            </a:endParaRPr>
          </a:p>
          <a:p>
            <a:r>
              <a:rPr lang="en-US" sz="1400">
                <a:solidFill>
                  <a:schemeClr val="tx2"/>
                </a:solidFill>
              </a:rPr>
              <a:t>Goals for this term </a:t>
            </a:r>
          </a:p>
          <a:p>
            <a:pPr lvl="1"/>
            <a:r>
              <a:rPr lang="en-US" sz="1400">
                <a:solidFill>
                  <a:schemeClr val="tx2"/>
                </a:solidFill>
              </a:rPr>
              <a:t>Training model complete</a:t>
            </a:r>
          </a:p>
          <a:p>
            <a:pPr lvl="1"/>
            <a:r>
              <a:rPr lang="en-US" sz="1400">
                <a:solidFill>
                  <a:schemeClr val="tx2"/>
                </a:solidFill>
              </a:rPr>
              <a:t>Translate results into readable insights</a:t>
            </a:r>
          </a:p>
        </p:txBody>
      </p:sp>
    </p:spTree>
    <p:extLst>
      <p:ext uri="{BB962C8B-B14F-4D97-AF65-F5344CB8AC3E}">
        <p14:creationId xmlns:p14="http://schemas.microsoft.com/office/powerpoint/2010/main" val="2446580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4F059F-7D0A-83A3-65C2-BE7F82A2AD35}"/>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45BD1A-BD6A-25B2-A012-085B0F85857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Division of Work</a:t>
            </a:r>
          </a:p>
        </p:txBody>
      </p:sp>
      <p:pic>
        <p:nvPicPr>
          <p:cNvPr id="6" name="Picture 5">
            <a:extLst>
              <a:ext uri="{FF2B5EF4-FFF2-40B4-BE49-F238E27FC236}">
                <a16:creationId xmlns:a16="http://schemas.microsoft.com/office/drawing/2014/main" id="{0885742B-1FEE-20D4-A8BB-F286EC6BAB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49523" y="2290307"/>
            <a:ext cx="11692953" cy="3035497"/>
          </a:xfrm>
          <a:prstGeom prst="rect">
            <a:avLst/>
          </a:prstGeom>
          <a:noFill/>
        </p:spPr>
      </p:pic>
    </p:spTree>
    <p:extLst>
      <p:ext uri="{BB962C8B-B14F-4D97-AF65-F5344CB8AC3E}">
        <p14:creationId xmlns:p14="http://schemas.microsoft.com/office/powerpoint/2010/main" val="2070559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6E91C6-BD85-CD46-6017-A70437145CF3}"/>
            </a:ext>
          </a:extLst>
        </p:cNvPr>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B9DD7B20-EF61-445D-ED6A-3E6370E06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lor Cover">
            <a:extLst>
              <a:ext uri="{FF2B5EF4-FFF2-40B4-BE49-F238E27FC236}">
                <a16:creationId xmlns:a16="http://schemas.microsoft.com/office/drawing/2014/main" id="{7282ACDD-9CFF-B039-2BA7-ECAF0D93E8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98684E4-B842-C040-73F4-2BE9EF9FF5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EA7C2E3F-E151-AE4E-8548-A24218A5C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lor">
              <a:extLst>
                <a:ext uri="{FF2B5EF4-FFF2-40B4-BE49-F238E27FC236}">
                  <a16:creationId xmlns:a16="http://schemas.microsoft.com/office/drawing/2014/main" id="{1F1EDF90-200C-D2E2-5A4D-C13C531404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BD383ABB-5D0F-9470-F8EF-8AA1EA32CB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006F2E38-E895-B0EC-9472-2002C9F9E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B77F9D75-8A61-7FE0-800C-91590CDA2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6B4B4275-B784-6937-6D2D-3EC620689B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E9362FB7-8298-16BE-12AC-DAD5214E2E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EDE7E1DE-A4A9-BAD6-01B7-301F0EA2E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866B729-6434-D7C6-D884-05619E41FE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0974AF0-CF9F-B908-7A0F-EBC271920D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93C6AC98-81C7-B49B-D19B-2A6098E51681}"/>
              </a:ext>
            </a:extLst>
          </p:cNvPr>
          <p:cNvSpPr>
            <a:spLocks noGrp="1"/>
          </p:cNvSpPr>
          <p:nvPr>
            <p:ph type="title"/>
          </p:nvPr>
        </p:nvSpPr>
        <p:spPr>
          <a:xfrm>
            <a:off x="386344" y="877382"/>
            <a:ext cx="5129600" cy="5340097"/>
          </a:xfrm>
        </p:spPr>
        <p:txBody>
          <a:bodyPr anchor="ctr">
            <a:normAutofit/>
          </a:bodyPr>
          <a:lstStyle/>
          <a:p>
            <a:pPr algn="ctr"/>
            <a:r>
              <a:rPr lang="en-US" sz="4800">
                <a:solidFill>
                  <a:schemeClr val="bg1"/>
                </a:solidFill>
              </a:rPr>
              <a:t>Expected Expo Demo</a:t>
            </a:r>
          </a:p>
        </p:txBody>
      </p:sp>
      <p:sp>
        <p:nvSpPr>
          <p:cNvPr id="3" name="Content Placeholder 2">
            <a:extLst>
              <a:ext uri="{FF2B5EF4-FFF2-40B4-BE49-F238E27FC236}">
                <a16:creationId xmlns:a16="http://schemas.microsoft.com/office/drawing/2014/main" id="{F439FB19-D98B-9EF5-54EA-0EEF60D92DDB}"/>
              </a:ext>
            </a:extLst>
          </p:cNvPr>
          <p:cNvSpPr>
            <a:spLocks noGrp="1"/>
          </p:cNvSpPr>
          <p:nvPr>
            <p:ph idx="1"/>
          </p:nvPr>
        </p:nvSpPr>
        <p:spPr>
          <a:xfrm>
            <a:off x="6463838" y="758951"/>
            <a:ext cx="4484536" cy="5340097"/>
          </a:xfrm>
        </p:spPr>
        <p:txBody>
          <a:bodyPr vert="horz" lIns="91440" tIns="45720" rIns="91440" bIns="45720" rtlCol="0" anchor="ctr">
            <a:normAutofit/>
          </a:bodyPr>
          <a:lstStyle/>
          <a:p>
            <a:r>
              <a:rPr lang="en-US" sz="1400">
                <a:solidFill>
                  <a:schemeClr val="tx2"/>
                </a:solidFill>
              </a:rPr>
              <a:t>Fully implemented UI with user-friendly navigation</a:t>
            </a:r>
          </a:p>
          <a:p>
            <a:endParaRPr lang="en-US" sz="1400">
              <a:solidFill>
                <a:schemeClr val="tx2"/>
              </a:solidFill>
            </a:endParaRPr>
          </a:p>
          <a:p>
            <a:r>
              <a:rPr lang="en-US" sz="1400">
                <a:solidFill>
                  <a:schemeClr val="tx2"/>
                </a:solidFill>
              </a:rPr>
              <a:t>Clear results for various match-ups</a:t>
            </a:r>
          </a:p>
          <a:p>
            <a:endParaRPr lang="en-US" sz="1400">
              <a:solidFill>
                <a:schemeClr val="tx2"/>
              </a:solidFill>
            </a:endParaRPr>
          </a:p>
          <a:p>
            <a:r>
              <a:rPr lang="en-US" sz="1400">
                <a:solidFill>
                  <a:schemeClr val="tx2"/>
                </a:solidFill>
              </a:rPr>
              <a:t>Model accuracy of at least 66%</a:t>
            </a:r>
          </a:p>
          <a:p>
            <a:endParaRPr lang="en-US" sz="1400">
              <a:solidFill>
                <a:schemeClr val="tx2"/>
              </a:solidFill>
            </a:endParaRPr>
          </a:p>
          <a:p>
            <a:r>
              <a:rPr lang="en-US" sz="1400">
                <a:solidFill>
                  <a:schemeClr val="tx2"/>
                </a:solidFill>
              </a:rPr>
              <a:t>Projection comparisons</a:t>
            </a:r>
          </a:p>
          <a:p>
            <a:endParaRPr lang="en-US" sz="1400">
              <a:solidFill>
                <a:schemeClr val="tx2"/>
              </a:solidFill>
            </a:endParaRPr>
          </a:p>
          <a:p>
            <a:r>
              <a:rPr lang="en-US" sz="1400">
                <a:solidFill>
                  <a:schemeClr val="tx2"/>
                </a:solidFill>
              </a:rPr>
              <a:t>Generate visualizations in performance trends</a:t>
            </a:r>
          </a:p>
          <a:p>
            <a:endParaRPr lang="en-US" sz="1400">
              <a:solidFill>
                <a:schemeClr val="tx2"/>
              </a:solidFill>
            </a:endParaRPr>
          </a:p>
          <a:p>
            <a:endParaRPr lang="en-US" sz="1400">
              <a:solidFill>
                <a:schemeClr val="tx2"/>
              </a:solidFill>
            </a:endParaRPr>
          </a:p>
        </p:txBody>
      </p:sp>
    </p:spTree>
    <p:extLst>
      <p:ext uri="{BB962C8B-B14F-4D97-AF65-F5344CB8AC3E}">
        <p14:creationId xmlns:p14="http://schemas.microsoft.com/office/powerpoint/2010/main" val="1803821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Boxscore Bots</vt:lpstr>
      <vt:lpstr>Members</vt:lpstr>
      <vt:lpstr>Project Abstract</vt:lpstr>
      <vt:lpstr>Design Diagrams</vt:lpstr>
      <vt:lpstr>User Stories</vt:lpstr>
      <vt:lpstr>Major Project Constraints</vt:lpstr>
      <vt:lpstr>Project Progress</vt:lpstr>
      <vt:lpstr>Expected Accomplishments</vt:lpstr>
      <vt:lpstr>Division of Work</vt:lpstr>
      <vt:lpstr>Expected Expo 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2025-10-22T15:43:04Z</dcterms:created>
  <dcterms:modified xsi:type="dcterms:W3CDTF">2025-10-27T21:03:07Z</dcterms:modified>
</cp:coreProperties>
</file>